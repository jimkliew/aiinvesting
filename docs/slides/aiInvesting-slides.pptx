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6"/>
    <p:sldId id="272" r:id="rId5"/>
    <p:sldId id="273" r:id="rId4"/>
    <p:sldId id="274" r:id="rId3"/>
    <p:sldId id="275" r:id="rId2"/>
    <p:sldId id="276" r:id="rId27"/>
    <p:sldId id="27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DFE6"/>
    <a:srgbClr val="10845B"/>
    <a:srgbClr val="0B1F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1"/>
    <p:restoredTop sz="93577"/>
  </p:normalViewPr>
  <p:slideViewPr>
    <p:cSldViewPr snapToGrid="0" snapToObjects="1">
      <p:cViewPr varScale="1">
        <p:scale>
          <a:sx n="127" d="100"/>
          <a:sy n="127" d="100"/>
        </p:scale>
        <p:origin x="216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0.xml"/><Relationship Id="rId3" Type="http://schemas.openxmlformats.org/officeDocument/2006/relationships/slide" Target="slides/slide19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46BDE-2FC1-A546-94C2-612C7CA01FEF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DF36B-FE27-AF42-90D6-322E7E9EA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98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776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65176"/>
            <a:ext cx="9326880" cy="8778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0B1F33"/>
                </a:solidFill>
                <a:latin typeface="Georgia"/>
              </a:rPr>
              <a:t>Opensource your Quant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39528" y="338328"/>
            <a:ext cx="1737360" cy="384048"/>
          </a:xfrm>
          <a:prstGeom prst="roundRect">
            <a:avLst>
              <a:gd name="adj" fmla="val 6000"/>
            </a:avLst>
          </a:prstGeom>
          <a:solidFill>
            <a:srgbClr val="EAF0F6"/>
          </a:solidFill>
          <a:ln w="10160">
            <a:solidFill>
              <a:srgbClr val="EA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30" b="1" i="0">
                <a:solidFill>
                  <a:srgbClr val="0B1F33"/>
                </a:solidFill>
                <a:latin typeface="Aptos"/>
              </a:rPr>
              <a:t>As of Oct 24,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" y="1481328"/>
            <a:ext cx="11155680" cy="4242816"/>
          </a:xfrm>
          <a:prstGeom prst="roundRect">
            <a:avLst>
              <a:gd name="adj" fmla="val 2000"/>
            </a:avLst>
          </a:prstGeom>
          <a:solidFill>
            <a:srgbClr val="0B1F33"/>
          </a:solidFill>
          <a:ln w="10160">
            <a:solidFill>
              <a:srgbClr val="0B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737360"/>
            <a:ext cx="10469880" cy="2103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4400" b="0" i="0">
                <a:solidFill>
                  <a:srgbClr val="FFFFFF"/>
                </a:solidFill>
                <a:latin typeface="Georgia"/>
              </a:rPr>
              <a:t>aiInvesting: an AI investment team</a:t>
            </a:r>
          </a:p>
          <a:p>
            <a:r>
              <a:rPr sz="4400" b="0" i="0">
                <a:solidFill>
                  <a:srgbClr val="FFFFFF"/>
                </a:solidFill>
                <a:latin typeface="Georgia"/>
              </a:rPr>
              <a:t>you can run on your own laptop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3931920"/>
            <a:ext cx="104698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00" b="0" i="0">
                <a:solidFill>
                  <a:srgbClr val="CADCFC"/>
                </a:solidFill>
                <a:latin typeface="Georgia"/>
              </a:rPr>
              <a:t>No API keys. Free data. A free open-weight model. Everything open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4709160"/>
            <a:ext cx="10469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ptos"/>
              </a:rPr>
              <a:t>Seven agents do the judgment. Plain Python does the schedule, the arithmetic and the bookkeeping.</a:t>
            </a:r>
          </a:p>
          <a:p>
            <a:r>
              <a:rPr sz="1400" b="0" i="0">
                <a:solidFill>
                  <a:srgbClr val="FFFFFF"/>
                </a:solidFill>
                <a:latin typeface="Aptos"/>
              </a:rPr>
              <a:t>A coach reviews every quarter and the dashboard shows whether the team is getting better.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94360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0B1F33"/>
                </a:solidFill>
                <a:latin typeface="Aptos"/>
              </a:rPr>
              <a:t>Code, spec and slides: </a:t>
            </a:r>
            <a:r>
              <a:rPr sz="1300" b="0" i="0">
                <a:solidFill>
                  <a:srgbClr val="1769AA"/>
                </a:solidFill>
                <a:latin typeface="Aptos"/>
              </a:rPr>
              <a:t>https://github.com/jimkliew/aiInvesting</a:t>
            </a:r>
            <a:r>
              <a:rPr sz="1300" b="0" i="0">
                <a:solidFill>
                  <a:srgbClr val="667085"/>
                </a:solidFill>
                <a:latin typeface="Aptos"/>
              </a:rPr>
              <a:t>   MIT license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556248"/>
            <a:ext cx="530352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680" b="0" i="0">
                <a:solidFill>
                  <a:srgbClr val="98A2B3"/>
                </a:solidFill>
                <a:latin typeface="Aptos"/>
              </a:rPr>
              <a:t>Teaching lab for agent engineering and honest evaluation. Not investment advice.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The question we are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A lab, not a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83112" cy="493776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50" b="0" i="0">
                <a:solidFill>
                  <a:srgbClr val="FFFFFF"/>
                </a:solidFill>
                <a:latin typeface="Georgia"/>
              </a:rPr>
              <a:t>How well can an AI investment team trade, and does it get better with feedback?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920240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83664"/>
            <a:ext cx="286207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B1F33"/>
                </a:solidFill>
                <a:latin typeface="Aptos"/>
              </a:rPr>
              <a:t>Can it do quant research?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22576"/>
            <a:ext cx="3191256" cy="1197863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 i="0">
                <a:solidFill>
                  <a:srgbClr val="243447"/>
                </a:solidFill>
                <a:latin typeface="Aptos"/>
              </a:rPr>
              <a:t>Agents propose hypotheses, write strategy code, backtest it, and critique the result. Measured against buy-and-hold and a moving-average crossover.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755648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98848" y="1920240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1883664"/>
            <a:ext cx="286207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B1F33"/>
                </a:solidFill>
                <a:latin typeface="Aptos"/>
              </a:rPr>
              <a:t>Can it trade with judgment?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322576"/>
            <a:ext cx="3191256" cy="1197863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 i="0">
                <a:solidFill>
                  <a:srgbClr val="243447"/>
                </a:solidFill>
                <a:latin typeface="Aptos"/>
              </a:rPr>
              <a:t>A trader persona makes weekly BUY, SELL or HOLD calls from a point-in-time snapshot and must state its reason in one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5592" y="1755648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0184" y="1920240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1883664"/>
            <a:ext cx="286207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B1F33"/>
                </a:solidFill>
                <a:latin typeface="Aptos"/>
              </a:rPr>
              <a:t>Does coaching help?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322576"/>
            <a:ext cx="3191256" cy="1197863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 i="0">
                <a:solidFill>
                  <a:srgbClr val="243447"/>
                </a:solidFill>
                <a:latin typeface="Aptos"/>
              </a:rPr>
              <a:t>After each quarter a Review Agent studies the results and recommends changes. The next quarter shows whether they helped.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40480"/>
            <a:ext cx="11183112" cy="7315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1769AA"/>
                </a:solidFill>
                <a:latin typeface="Aptos"/>
              </a:rPr>
              <a:t>Success is measured one way: the team's out-of-sample track record against SPY, season by season.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00600"/>
            <a:ext cx="11183112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43447"/>
                </a:solidFill>
                <a:latin typeface="Aptos"/>
              </a:rPr>
              <a:t>SPY is the benchmark the team must beat. It never holds SPY.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43447"/>
                </a:solidFill>
                <a:latin typeface="Aptos"/>
              </a:rPr>
              <a:t>The team trades twelve large-cap US names: AAPL, MSFT, NVDA, AMZN, GOOGL, META, TSLA, AVGO, AMD, CRM, ORCL, NFLX.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Assumptions: free, local, and keyless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Everything a student needs is a laptop and one download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009497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0" i="0">
                <a:solidFill>
                  <a:srgbClr val="667085"/>
                </a:solidFill>
                <a:latin typeface="Aptos"/>
              </a:rPr>
              <a:t>yfinance is an unofficial interface to Yahoo Finance; use it for personal and educational purposes and expect occasional gaps. Not investment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256946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15568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400" b="1" i="0">
                <a:solidFill>
                  <a:srgbClr val="002D72"/>
                </a:solidFill>
                <a:latin typeface="Georgia"/>
              </a:rP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609344"/>
            <a:ext cx="21945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243447"/>
                </a:solidFill>
                <a:latin typeface="Aptos"/>
              </a:rPr>
              <a:t>to run the whole lab, end to 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0984" y="1005840"/>
            <a:ext cx="256946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115568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400" b="1" i="0">
                <a:solidFill>
                  <a:srgbClr val="002D72"/>
                </a:solidFill>
                <a:latin typeface="Georg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1609344"/>
            <a:ext cx="21945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243447"/>
                </a:solidFill>
                <a:latin typeface="Aptos"/>
              </a:rPr>
              <a:t>API keys, accounts or subscriptions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8" y="1005840"/>
            <a:ext cx="256946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115568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400" b="1" i="0">
                <a:solidFill>
                  <a:srgbClr val="002D72"/>
                </a:solidFill>
                <a:latin typeface="Georgia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609344"/>
            <a:ext cx="21945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243447"/>
                </a:solidFill>
                <a:latin typeface="Aptos"/>
              </a:rPr>
              <a:t>tickers: 12 traded, plus SPY as the benchmark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2" y="1005840"/>
            <a:ext cx="256946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6" y="1115568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400" b="1" i="0">
                <a:solidFill>
                  <a:srgbClr val="002D72"/>
                </a:solidFill>
                <a:latin typeface="Georgia"/>
              </a:rPr>
              <a:t>16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1609344"/>
            <a:ext cx="21945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243447"/>
                </a:solidFill>
                <a:latin typeface="Aptos"/>
              </a:rPr>
              <a:t>of laptop RAM runs the default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395728"/>
            <a:ext cx="11183112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1769AA"/>
                </a:solidFill>
                <a:latin typeface="Aptos"/>
              </a:rPr>
              <a:t>WHAT WE RELY 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69748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7512" y="2862072"/>
            <a:ext cx="292608" cy="292608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825496"/>
            <a:ext cx="482803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B1F33"/>
                </a:solidFill>
                <a:latin typeface="Aptos"/>
              </a:rPr>
              <a:t>Data: yfinance, daily bars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3264408"/>
            <a:ext cx="5157216" cy="10607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Free, no key. Daily open, high, low, close and volume from 2015. Adjusted for splits and dividends. The Data Agent checks gaps and short histories and writes a report.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69748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2862072"/>
            <a:ext cx="292608" cy="292608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2825496"/>
            <a:ext cx="482803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B1F33"/>
                </a:solidFill>
                <a:latin typeface="Aptos"/>
              </a:rPr>
              <a:t>Model: Ollama with qwen3:8b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3264408"/>
            <a:ext cx="5157216" cy="10607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Open weights under Apache 2.0, runs fully offline. Supports tool calling and JSON-schema output. Swap any Ollama model with one flag; qwen3:4b fits 8 GB laptops.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57200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7512" y="4736592"/>
            <a:ext cx="292608" cy="292608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700016"/>
            <a:ext cx="482803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B1F33"/>
                </a:solidFill>
                <a:latin typeface="Aptos"/>
              </a:rPr>
              <a:t>Compute: your own machine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5138928"/>
            <a:ext cx="5157216" cy="10607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About 2 to 5 seconds per model call on Apple Silicon. A six-season campaign is roughly 300 calls, 20 to 30 minutes. Replay mode shows a recorded run in class.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457200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736592"/>
            <a:ext cx="292608" cy="292608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4700016"/>
            <a:ext cx="482803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B1F33"/>
                </a:solidFill>
                <a:latin typeface="Aptos"/>
              </a:rPr>
              <a:t>Market model: deliberately simple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5138928"/>
            <a:ext cx="5157216" cy="10607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US large caps, daily closes, long only, monthly desk rebalance (weekly is a coach lever), 5 basis points per unit of weight traded. No shorting, leverage, options or intraday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The team: seven roles and one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Each agent has one prompt file, one output schema, and at most four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83112" cy="493776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50" b="0" i="0">
                <a:solidFill>
                  <a:srgbClr val="FFFFFF"/>
                </a:solidFill>
                <a:latin typeface="Georgia"/>
              </a:rPr>
              <a:t>The model does the judgment. Plain Python does the arithmetic, the schedule and the bookkeeping.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920240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83664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Data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22576"/>
            <a:ext cx="2368296" cy="11064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Turns a one-line brief into a checked, cached dataset with a manifest hash and a short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55648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02152" y="1920240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883664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Idea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322576"/>
            <a:ext cx="2368296" cy="11064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Reads the lab notebook and proposes distinct strategy hypotheses across families.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55648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36792" y="1920240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883664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Coder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322576"/>
            <a:ext cx="2368296" cy="11064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Writes generate_signals() for one hypothesis and fixes it when the sandbox objects.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55648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71432" y="1920240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1883664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Critic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2322576"/>
            <a:ext cx="2368296" cy="11064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Reads train and validation metrics and votes Keep or Discard, naming its concerns.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94176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3858768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822191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Trader personas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4261104"/>
            <a:ext cx="2368296" cy="11064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Momentum, contrarian, risk-averse. Weekly calls from a snapshot with one sentence of reasoning.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3694176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02152" y="3858768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822191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PM Agent, optional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4261104"/>
            <a:ext cx="2368296" cy="11064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Combines the three personas' votes into one allocation each week. The committee pattern.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694176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36792" y="3858768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822191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Review Agent, the coach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4261104"/>
            <a:ext cx="2368296" cy="11064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Studies each season and recommends changes, but only from a fixed menu of levers.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3694176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71432" y="3858768"/>
            <a:ext cx="292608" cy="292608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822191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Orchestrator, plain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4261104"/>
            <a:ext cx="2368296" cy="11064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A state machine, not a model. Runs the phases in order and enforces every budget.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715000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 i="0">
                <a:solidFill>
                  <a:srgbClr val="1769AA"/>
                </a:solidFill>
                <a:latin typeface="Aptos"/>
              </a:rPr>
              <a:t>Only the Data Agent uses tool calling. The other six get everything they need in the prompt, which is cheaper and more reliable for an 8B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How it all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Agents do the judgment; plain Python does the schedule, the arithmetic and the bookkeeping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009497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0" i="0">
                <a:solidFill>
                  <a:srgbClr val="667085"/>
                </a:solidFill>
                <a:latin typeface="Aptos"/>
              </a:rPr>
              <a:t>docs/architecture.png in the repo, drawn by docs/draw_architecture.py. docs/ARCHITECTURE.md adds the agent table, the on-disk layout and where to change things.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6385" y="923544"/>
            <a:ext cx="7976180" cy="560527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tecture_p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961" y="960120"/>
            <a:ext cx="7903028" cy="55321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How a season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One calendar quarter the team has never seen, traded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83112" cy="493776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50" b="0" i="0">
                <a:solidFill>
                  <a:srgbClr val="FFFFFF"/>
                </a:solidFill>
                <a:latin typeface="Georgia"/>
              </a:rPr>
              <a:t>Research on the past, trade the sealed quarter, score it, get coached, repeat.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7373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0936" y="1938528"/>
            <a:ext cx="347472" cy="347472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47672"/>
            <a:ext cx="10972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0B1F33"/>
                </a:solidFill>
                <a:latin typeface="Aptos"/>
              </a:rP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423160"/>
            <a:ext cx="1481328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243447"/>
                </a:solidFill>
                <a:latin typeface="Aptos"/>
              </a:rPr>
              <a:t>Idea, Coder and Critic loop over hypotheses using only data from before the quarter.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926080"/>
            <a:ext cx="150876" cy="0"/>
          </a:xfrm>
          <a:prstGeom prst="line">
            <a:avLst/>
          </a:prstGeom>
          <a:ln w="1905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91156" y="1783080"/>
            <a:ext cx="17373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19172" y="1938528"/>
            <a:ext cx="347472" cy="347472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9796" y="1947672"/>
            <a:ext cx="10972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0B1F33"/>
                </a:solidFill>
                <a:latin typeface="Aptos"/>
              </a:rPr>
              <a:t>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9172" y="2423160"/>
            <a:ext cx="1481328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243447"/>
                </a:solidFill>
                <a:latin typeface="Aptos"/>
              </a:rPr>
              <a:t>Code, not a model, picks the best validation Sharpe under a turnover cap. That is the quant book.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28516" y="2926080"/>
            <a:ext cx="150876" cy="0"/>
          </a:xfrm>
          <a:prstGeom prst="line">
            <a:avLst/>
          </a:prstGeom>
          <a:ln w="1905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79392" y="1783080"/>
            <a:ext cx="17373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07407" y="1938528"/>
            <a:ext cx="347472" cy="347472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1" y="1947672"/>
            <a:ext cx="10972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0B1F33"/>
                </a:solidFill>
                <a:latin typeface="Aptos"/>
              </a:rPr>
              <a:t>Trade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2423160"/>
            <a:ext cx="1481328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243447"/>
                </a:solidFill>
                <a:latin typeface="Aptos"/>
              </a:rPr>
              <a:t>The quant book trades mechanically. The desk persona makes a discretionary call per stock at each rebalance.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16752" y="2926080"/>
            <a:ext cx="150876" cy="0"/>
          </a:xfrm>
          <a:prstGeom prst="line">
            <a:avLst/>
          </a:prstGeom>
          <a:ln w="1905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67628" y="1783080"/>
            <a:ext cx="17373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95644" y="1938528"/>
            <a:ext cx="347472" cy="347472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6268" y="1947672"/>
            <a:ext cx="10972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0B1F33"/>
                </a:solidFill>
                <a:latin typeface="Aptos"/>
              </a:rPr>
              <a:t>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5644" y="2423160"/>
            <a:ext cx="1481328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243447"/>
                </a:solidFill>
                <a:latin typeface="Aptos"/>
              </a:rPr>
              <a:t>Quant book, desk, team (half each), SPY and baselines. The track record grows by one quarter.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04988" y="2926080"/>
            <a:ext cx="150875" cy="0"/>
          </a:xfrm>
          <a:prstGeom prst="line">
            <a:avLst/>
          </a:prstGeom>
          <a:ln w="1905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055864" y="1783080"/>
            <a:ext cx="17373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83880" y="1938528"/>
            <a:ext cx="347472" cy="347472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4504" y="1947672"/>
            <a:ext cx="10972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0B1F33"/>
                </a:solidFill>
                <a:latin typeface="Aptos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2423160"/>
            <a:ext cx="1481328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243447"/>
                </a:solidFill>
                <a:latin typeface="Aptos"/>
              </a:rPr>
              <a:t>The coach reads the season packet and writes an assessment with 1 to 3 recommendations.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93224" y="2926080"/>
            <a:ext cx="150876" cy="0"/>
          </a:xfrm>
          <a:prstGeom prst="line">
            <a:avLst/>
          </a:prstGeom>
          <a:ln w="1905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944100" y="1783080"/>
            <a:ext cx="17373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72116" y="1938528"/>
            <a:ext cx="347472" cy="347472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92740" y="1947672"/>
            <a:ext cx="10972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0B1F33"/>
                </a:solidFill>
                <a:latin typeface="Aptos"/>
              </a:rPr>
              <a:t>Apply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72116" y="2423160"/>
            <a:ext cx="1481328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243447"/>
                </a:solidFill>
                <a:latin typeface="Aptos"/>
              </a:rPr>
              <a:t>Levers are applied automatically, or wait for you to click Accept. The next season begins.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343400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50" b="1" i="0">
                <a:solidFill>
                  <a:srgbClr val="1769AA"/>
                </a:solidFill>
                <a:latin typeface="Aptos"/>
              </a:rPr>
              <a:t>Default campaign: 6 seasons from 2025 Q1 to 2026 Q2, about 300 model calls, 20 to 30 minutes on a laptop.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120640"/>
            <a:ext cx="11183112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150" b="0" i="0">
                <a:solidFill>
                  <a:srgbClr val="243447"/>
                </a:solidFill>
                <a:latin typeface="Aptos"/>
              </a:rPr>
              <a:t>Season 1 also runs the Data Agent and a second research round. Later seasons reuse the cached data and carry the notebook forward.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243447"/>
                </a:solidFill>
                <a:latin typeface="Aptos"/>
              </a:rPr>
              <a:t>Budgets, not patience, end every loop: calls per season, minutes per season, strategies per 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Why seasons: walk-forward testing stops the loop from peeking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A fixed test set would be burned the first time the coach saw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83112" cy="493776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50" b="0" i="0">
                <a:solidFill>
                  <a:srgbClr val="FFFFFF"/>
                </a:solidFill>
                <a:latin typeface="Georgia"/>
              </a:rPr>
              <a:t>Each quarter is traded exactly once, out of sample. Only then does it become history the team may learn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55648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0" i="0">
                <a:solidFill>
                  <a:srgbClr val="667085"/>
                </a:solidFill>
                <a:latin typeface="Aptos"/>
              </a:rPr>
              <a:t>2015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5640" y="1755648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0" i="0">
                <a:solidFill>
                  <a:srgbClr val="667085"/>
                </a:solidFill>
                <a:latin typeface="Aptos"/>
              </a:rPr>
              <a:t>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1239" y="1755648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0" i="0">
                <a:solidFill>
                  <a:srgbClr val="667085"/>
                </a:solidFill>
                <a:latin typeface="Aptos"/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0359" y="1755648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0" i="0">
                <a:solidFill>
                  <a:srgbClr val="667085"/>
                </a:solidFill>
                <a:latin typeface="Aptos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03120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1" i="0">
                <a:solidFill>
                  <a:srgbClr val="0B1F33"/>
                </a:solidFill>
                <a:latin typeface="Aptos"/>
              </a:rPr>
              <a:t>Season 1, 2025 Q1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29968"/>
            <a:ext cx="5212079" cy="384048"/>
          </a:xfrm>
          <a:prstGeom prst="roundRect">
            <a:avLst>
              <a:gd name="adj" fmla="val 3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 i="0">
                <a:solidFill>
                  <a:srgbClr val="243447"/>
                </a:solidFill>
                <a:latin typeface="Aptos"/>
              </a:rPr>
              <a:t>Train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4999" y="2029968"/>
            <a:ext cx="576803" cy="384048"/>
          </a:xfrm>
          <a:prstGeom prst="roundRect">
            <a:avLst>
              <a:gd name="adj" fmla="val 3000"/>
            </a:avLst>
          </a:prstGeom>
          <a:solidFill>
            <a:srgbClr val="176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803" y="2029968"/>
            <a:ext cx="145938" cy="384048"/>
          </a:xfrm>
          <a:prstGeom prst="roundRect">
            <a:avLst>
              <a:gd name="adj" fmla="val 3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670048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1" i="0">
                <a:solidFill>
                  <a:srgbClr val="0B1F33"/>
                </a:solidFill>
                <a:latin typeface="Aptos"/>
              </a:rPr>
              <a:t>Season 2, 2025 Q2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96896"/>
            <a:ext cx="5358018" cy="384048"/>
          </a:xfrm>
          <a:prstGeom prst="roundRect">
            <a:avLst>
              <a:gd name="adj" fmla="val 3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 i="0">
                <a:solidFill>
                  <a:srgbClr val="243447"/>
                </a:solidFill>
                <a:latin typeface="Aptos"/>
              </a:rPr>
              <a:t>Train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60938" y="2596896"/>
            <a:ext cx="576803" cy="384048"/>
          </a:xfrm>
          <a:prstGeom prst="roundRect">
            <a:avLst>
              <a:gd name="adj" fmla="val 3000"/>
            </a:avLst>
          </a:prstGeom>
          <a:solidFill>
            <a:srgbClr val="176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741" y="2596896"/>
            <a:ext cx="145938" cy="384048"/>
          </a:xfrm>
          <a:prstGeom prst="roundRect">
            <a:avLst>
              <a:gd name="adj" fmla="val 3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236976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1" i="0">
                <a:solidFill>
                  <a:srgbClr val="0B1F33"/>
                </a:solidFill>
                <a:latin typeface="Aptos"/>
              </a:rPr>
              <a:t>Season 3, 2025 Q3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163824"/>
            <a:ext cx="5503956" cy="384048"/>
          </a:xfrm>
          <a:prstGeom prst="roundRect">
            <a:avLst>
              <a:gd name="adj" fmla="val 3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 i="0">
                <a:solidFill>
                  <a:srgbClr val="243447"/>
                </a:solidFill>
                <a:latin typeface="Aptos"/>
              </a:rPr>
              <a:t>Train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06876" y="3163824"/>
            <a:ext cx="576803" cy="384048"/>
          </a:xfrm>
          <a:prstGeom prst="roundRect">
            <a:avLst>
              <a:gd name="adj" fmla="val 3000"/>
            </a:avLst>
          </a:prstGeom>
          <a:solidFill>
            <a:srgbClr val="176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79" y="3163824"/>
            <a:ext cx="145938" cy="384048"/>
          </a:xfrm>
          <a:prstGeom prst="roundRect">
            <a:avLst>
              <a:gd name="adj" fmla="val 3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94760"/>
            <a:ext cx="6949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667085"/>
                </a:solidFill>
                <a:latin typeface="Aptos"/>
              </a:rPr>
              <a:t>Navy block: the sealed quarter. It moves one step right each season.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1605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4251959"/>
            <a:ext cx="32278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489704"/>
            <a:ext cx="3227832" cy="10149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243447"/>
                </a:solidFill>
                <a:latin typeface="Aptos"/>
              </a:rPr>
              <a:t>2015 up to twelve months before the season. Every backtest runs here. The Idea, Coder and Critic agents see only this and the validation year.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6" y="41605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251959"/>
            <a:ext cx="32278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489704"/>
            <a:ext cx="3227832" cy="10149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243447"/>
                </a:solidFill>
                <a:latin typeface="Aptos"/>
              </a:rPr>
              <a:t>The twelve months before the season. The Critic judges here, and the selector picks the quant book here. Nothing from the season influences the choice.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65592" y="41605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4251959"/>
            <a:ext cx="322783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SEASON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4489704"/>
            <a:ext cx="3227832" cy="10149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243447"/>
                </a:solidFill>
                <a:latin typeface="Aptos"/>
              </a:rPr>
              <a:t>The next quarter. Sealed until traded, scored once, then handed to the coach as history. The next season starts a quarter later.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760720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 i="0">
                <a:solidFill>
                  <a:srgbClr val="1769AA"/>
                </a:solidFill>
                <a:latin typeface="Aptos"/>
              </a:rPr>
              <a:t>What to watch: did validation Sharpe predict season Sharpe? With six seasons noise dominates. The lab teaches the measurement, not a guarantee.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Data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Phase 0. Runs once per campaign; later seasons reuse the cache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83112" cy="493776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50" b="0" i="0">
                <a:solidFill>
                  <a:srgbClr val="FFFFFF"/>
                </a:solidFill>
                <a:latin typeface="Georgia"/>
              </a:rPr>
              <a:t>Lesson one: do not use a model where a function will do. The fetch is code; the judgment around it is the agent.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847088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084831"/>
            <a:ext cx="3867911" cy="557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Turn a plain-English brief into a validated, cached dataset and a short written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25496"/>
            <a:ext cx="41605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916936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154679"/>
            <a:ext cx="3867911" cy="7406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A brief such as "12 large-cap US tech names plus SPY, 2015 to today", plus a bundled list of candidate tickers. No web 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78224"/>
            <a:ext cx="4160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4169663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407408"/>
            <a:ext cx="3867911" cy="649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data/raw/*.parquet, data/features/*.parquet, manifest.json with a SHA-256 of the prices, and REPORT.md in plain English.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39512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5330952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TOOLS AND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5568696"/>
            <a:ext cx="3867911" cy="557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243447"/>
                </a:solidFill>
                <a:latin typeface="Aptos"/>
              </a:rPr>
              <a:t>propose_tickers, fetch_prices, check_quality, replace_ticker. At most 12 tool calls. The only agent that uses tool calling.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755648"/>
            <a:ext cx="6839712" cy="21031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4336" y="1828800"/>
            <a:ext cx="65836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Prompt, excerpt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6" y="2066543"/>
            <a:ext cx="6583680" cy="1719072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1050" b="0" i="0">
                <a:solidFill>
                  <a:srgbClr val="0B1F33"/>
                </a:solidFill>
                <a:latin typeface="Courier New"/>
              </a:rPr>
              <a:t>You assemble datasets for a long-only equity lab.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Turn the brief into a ticker list with propose_tickers, fetch with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fetch_prices, then read check_quality. Replace any name with under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8 years of history or unexplained gaps. Finish with a short report: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what was fetched, what you changed, and why. Never invent tickers;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only use names the tools return.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968496"/>
            <a:ext cx="6839712" cy="235915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4041648"/>
            <a:ext cx="65836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Code running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4336" y="4279392"/>
            <a:ext cx="6583680" cy="1975104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850" b="0" i="0">
                <a:solidFill>
                  <a:srgbClr val="0B1F33"/>
                </a:solidFill>
                <a:latin typeface="Courier New"/>
              </a:rPr>
              <a:t>plan = llm.structured(DATA_PROMPT, brief, schema=DataPlan)</a:t>
            </a:r>
          </a:p>
          <a:p>
            <a:r>
              <a:rPr sz="850" b="0" i="0">
                <a:solidFill>
                  <a:srgbClr val="0B1F33"/>
                </a:solidFill>
                <a:latin typeface="Courier New"/>
              </a:rPr>
              <a:t># -&gt; tickers=[AAPL, MSFT, NVDA, ...], benchmark="SPY"</a:t>
            </a:r>
          </a:p>
          <a:p>
            <a:r>
              <a:rPr sz="850" b="0" i="0">
                <a:solidFill>
                  <a:srgbClr val="0B1F33"/>
                </a:solidFill>
                <a:latin typeface="Courier New"/>
              </a:rPr>
              <a:t/>
            </a:r>
          </a:p>
          <a:p>
            <a:r>
              <a:rPr sz="850" b="0" i="0">
                <a:solidFill>
                  <a:srgbClr val="0B1F33"/>
                </a:solidFill>
                <a:latin typeface="Courier New"/>
              </a:rPr>
              <a:t>prices = fetch_prices(plan.tickers + [plan.benchmark],</a:t>
            </a:r>
          </a:p>
          <a:p>
            <a:r>
              <a:rPr sz="850" b="0" i="0">
                <a:solidFill>
                  <a:srgbClr val="0B1F33"/>
                </a:solidFill>
                <a:latin typeface="Courier New"/>
              </a:rPr>
              <a:t>                      start="2015-01-01")     # yfinance, parquet cache</a:t>
            </a:r>
          </a:p>
          <a:p>
            <a:r>
              <a:rPr sz="850" b="0" i="0">
                <a:solidFill>
                  <a:srgbClr val="0B1F33"/>
                </a:solidFill>
                <a:latin typeface="Courier New"/>
              </a:rPr>
              <a:t>report = check_quality(prices)                # gaps, NaNs, zero volume</a:t>
            </a:r>
          </a:p>
          <a:p>
            <a:r>
              <a:rPr sz="850" b="0" i="0">
                <a:solidFill>
                  <a:srgbClr val="0B1F33"/>
                </a:solidFill>
                <a:latin typeface="Courier New"/>
              </a:rPr>
              <a:t>manifest.write(prices, notes=plan.rationale)  # sha256 -&gt; 3f9c...</a:t>
            </a:r>
          </a:p>
          <a:p>
            <a:r>
              <a:rPr sz="850" b="0" i="0">
                <a:solidFill>
                  <a:srgbClr val="0B1F33"/>
                </a:solidFill>
                <a:latin typeface="Courier New"/>
              </a:rPr>
              <a:t/>
            </a:r>
          </a:p>
          <a:p>
            <a:r>
              <a:rPr sz="850" b="0" i="0">
                <a:solidFill>
                  <a:srgbClr val="0B1F33"/>
                </a:solidFill>
                <a:latin typeface="Courier New"/>
              </a:rPr>
              <a:t># the tool loop underneath (aitrader/agent.py)</a:t>
            </a:r>
          </a:p>
          <a:p>
            <a:r>
              <a:rPr sz="850" b="0" i="0">
                <a:solidFill>
                  <a:srgbClr val="0B1F33"/>
                </a:solidFill>
                <a:latin typeface="Courier New"/>
              </a:rPr>
              <a:t>for step in range(max_steps):</a:t>
            </a:r>
          </a:p>
          <a:p>
            <a:r>
              <a:rPr sz="850" b="0" i="0">
                <a:solidFill>
                  <a:srgbClr val="0B1F33"/>
                </a:solidFill>
                <a:latin typeface="Courier New"/>
              </a:rPr>
              <a:t>    reply = ollama.chat(model, messages, tools=schemas(tools))</a:t>
            </a:r>
          </a:p>
          <a:p>
            <a:r>
              <a:rPr sz="850" b="0" i="0">
                <a:solidFill>
                  <a:srgbClr val="0B1F33"/>
                </a:solidFill>
                <a:latin typeface="Courier New"/>
              </a:rPr>
              <a:t>    if not reply.message.tool_calls: return reply.message.content</a:t>
            </a:r>
          </a:p>
          <a:p>
            <a:r>
              <a:rPr sz="850" b="0" i="0">
                <a:solidFill>
                  <a:srgbClr val="0B1F33"/>
                </a:solidFill>
                <a:latin typeface="Courier New"/>
              </a:rPr>
              <a:t>    for call in reply.message.tool_calls:</a:t>
            </a:r>
          </a:p>
          <a:p>
            <a:r>
              <a:rPr sz="850" b="0" i="0">
                <a:solidFill>
                  <a:srgbClr val="0B1F33"/>
                </a:solidFill>
                <a:latin typeface="Courier New"/>
              </a:rPr>
              <a:t>        messages.append(tool_result(tools[call.function.name](**call.function.arguments)))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Idea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Phase 1. One call per research round, no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83112" cy="493776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50" b="0" i="0">
                <a:solidFill>
                  <a:srgbClr val="FFFFFF"/>
                </a:solidFill>
                <a:latin typeface="Georgia"/>
              </a:rPr>
              <a:t>Everything it needs is in the prompt: a 40-line feature catalog and one line per strategy already tried.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847088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084831"/>
            <a:ext cx="3867911" cy="557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Propose K distinct hypotheses across families: trend, mean reversion, volatility, cross-sectional momentum.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25496"/>
            <a:ext cx="41605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916936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154679"/>
            <a:ext cx="3867911" cy="7406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The feature catalog, the lab notebook summary, the family focus set by the coach, and its own lessons.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78224"/>
            <a:ext cx="4160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4169663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407408"/>
            <a:ext cx="3867911" cy="649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A list of Hypothesis objects: name, family, idea, features_used, why_it_might_work. JSON enforced by schema.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39512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5330952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TOOLS AND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5568696"/>
            <a:ext cx="3867911" cy="557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243447"/>
                </a:solidFill>
                <a:latin typeface="Aptos"/>
              </a:rPr>
              <a:t>No tools, temperature 0. For an 8B model, putting the information in the prompt is more reliable than letting it fetch.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755648"/>
            <a:ext cx="6839712" cy="21031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4336" y="1828800"/>
            <a:ext cx="65836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Prompt, excerpt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6" y="2066543"/>
            <a:ext cx="6583680" cy="1719072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1050" b="0" i="0">
                <a:solidFill>
                  <a:srgbClr val="0B1F33"/>
                </a:solidFill>
                <a:latin typeface="Courier New"/>
              </a:rPr>
              <a:t>You are the research lead of a small quant team. Propose {K} distinct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strategy hypotheses using only the features listed. Do not repeat or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lightly vary anything in the notebook. Cover different families.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Focus: {family_focus}. Each idea must be testable as a daily, long-only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weighting rule. Answer in the JSON schema provided.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968496"/>
            <a:ext cx="6839712" cy="235915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4041648"/>
            <a:ext cx="65836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Code running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4336" y="4279392"/>
            <a:ext cx="6583680" cy="1975104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800" b="0" i="0">
                <a:solidFill>
                  <a:srgbClr val="0B1F33"/>
                </a:solidFill>
                <a:latin typeface="Courier New"/>
              </a:rPr>
              <a:t>hyps = llm.structured(</a:t>
            </a:r>
          </a:p>
          <a:p>
            <a:r>
              <a:rPr sz="800" b="0" i="0">
                <a:solidFill>
                  <a:srgbClr val="0B1F33"/>
                </a:solidFill>
                <a:latin typeface="Courier New"/>
              </a:rPr>
              <a:t>    system=prompts.load("idea", lessons=store.lessons("idea")),</a:t>
            </a:r>
          </a:p>
          <a:p>
            <a:r>
              <a:rPr sz="800" b="0" i="0">
                <a:solidFill>
                  <a:srgbClr val="0B1F33"/>
                </a:solidFill>
                <a:latin typeface="Courier New"/>
              </a:rPr>
              <a:t>    user=f"Features:\n{features.catalog()}\n\nNotebook:\n{notebook.summary()}",</a:t>
            </a:r>
          </a:p>
          <a:p>
            <a:r>
              <a:rPr sz="800" b="0" i="0">
                <a:solidFill>
                  <a:srgbClr val="0B1F33"/>
                </a:solidFill>
                <a:latin typeface="Courier New"/>
              </a:rPr>
              <a:t>    schema=list[Hypothesis],</a:t>
            </a:r>
          </a:p>
          <a:p>
            <a:r>
              <a:rPr sz="800" b="0" i="0">
                <a:solidFill>
                  <a:srgbClr val="0B1F33"/>
                </a:solidFill>
                <a:latin typeface="Courier New"/>
              </a:rPr>
              <a:t>    temperature=0,</a:t>
            </a:r>
          </a:p>
          <a:p>
            <a:r>
              <a:rPr sz="800" b="0" i="0">
                <a:solidFill>
                  <a:srgbClr val="0B1F33"/>
                </a:solidFill>
                <a:latin typeface="Courier New"/>
              </a:rPr>
              <a:t>)</a:t>
            </a:r>
          </a:p>
          <a:p>
            <a:r>
              <a:rPr sz="800" b="0" i="0">
                <a:solidFill>
                  <a:srgbClr val="0B1F33"/>
                </a:solidFill>
                <a:latin typeface="Courier New"/>
              </a:rPr>
              <a:t/>
            </a:r>
          </a:p>
          <a:p>
            <a:r>
              <a:rPr sz="800" b="0" i="0">
                <a:solidFill>
                  <a:srgbClr val="0B1F33"/>
                </a:solidFill>
                <a:latin typeface="Courier New"/>
              </a:rPr>
              <a:t># under the hood, one Ollama call with schema-constrained output</a:t>
            </a:r>
          </a:p>
          <a:p>
            <a:r>
              <a:rPr sz="800" b="0" i="0">
                <a:solidFill>
                  <a:srgbClr val="0B1F33"/>
                </a:solidFill>
                <a:latin typeface="Courier New"/>
              </a:rPr>
              <a:t>ollama.chat(model="qwen3:8b", messages=[...],</a:t>
            </a:r>
          </a:p>
          <a:p>
            <a:r>
              <a:rPr sz="800" b="0" i="0">
                <a:solidFill>
                  <a:srgbClr val="0B1F33"/>
                </a:solidFill>
                <a:latin typeface="Courier New"/>
              </a:rPr>
              <a:t>            format=Hypothesis.schema(), options={"temperature": 0})</a:t>
            </a:r>
          </a:p>
          <a:p>
            <a:r>
              <a:rPr sz="800" b="0" i="0">
                <a:solidFill>
                  <a:srgbClr val="0B1F33"/>
                </a:solidFill>
                <a:latin typeface="Courier New"/>
              </a:rPr>
              <a:t/>
            </a:r>
          </a:p>
          <a:p>
            <a:r>
              <a:rPr sz="800" b="0" i="0">
                <a:solidFill>
                  <a:srgbClr val="0B1F33"/>
                </a:solidFill>
                <a:latin typeface="Courier New"/>
              </a:rPr>
              <a:t># a Hypothesis, as returned</a:t>
            </a:r>
          </a:p>
          <a:p>
            <a:r>
              <a:rPr sz="800" b="0" i="0">
                <a:solidFill>
                  <a:srgbClr val="0B1F33"/>
                </a:solidFill>
                <a:latin typeface="Courier New"/>
              </a:rPr>
              <a:t>{"name": "breakout_20d_volscale", "family": "trend",</a:t>
            </a:r>
          </a:p>
          <a:p>
            <a:r>
              <a:rPr sz="800" b="0" i="0">
                <a:solidFill>
                  <a:srgbClr val="0B1F33"/>
                </a:solidFill>
                <a:latin typeface="Courier New"/>
              </a:rPr>
              <a:t> "idea": "Buy closes above the prior 20-day high; hold while above sma20",</a:t>
            </a:r>
          </a:p>
          <a:p>
            <a:r>
              <a:rPr sz="800" b="0" i="0">
                <a:solidFill>
                  <a:srgbClr val="0B1F33"/>
                </a:solidFill>
                <a:latin typeface="Courier New"/>
              </a:rPr>
              <a:t> "features_used": ["close", "ret_1d"]}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Coder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Phase 1. One function per hypothesis, at most three attempts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83112" cy="493776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50" b="0" i="0">
                <a:solidFill>
                  <a:srgbClr val="FFFFFF"/>
                </a:solidFill>
                <a:latin typeface="Georgia"/>
              </a:rPr>
              <a:t>Every strategy, written by a person or a model, implements the same one-function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847088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084831"/>
            <a:ext cx="3867911" cy="557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243447"/>
                </a:solidFill>
                <a:latin typeface="Aptos"/>
              </a:rPr>
              <a:t>Translate one hypothesis into generate_signals() and repair it when the sandbox or the lookahead guard rejects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25496"/>
            <a:ext cx="41605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916936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154679"/>
            <a:ext cx="3867911" cy="7406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One Hypothesis. On a retry, the exact error text and line number from the sandbox or the backtester.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78224"/>
            <a:ext cx="4160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4169663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407408"/>
            <a:ext cx="3867911" cy="649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StrategyCode: the function body and a note. Weights between 0 and 1, one row per date, one column per ticker.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39512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5330952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TOOLS AND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5568696"/>
            <a:ext cx="3867911" cy="557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No tools. Three attempts, then the hypothesis is marked failed in the notebook and the loop moves 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755648"/>
            <a:ext cx="6839712" cy="21031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4336" y="1828800"/>
            <a:ext cx="65836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Prompt, excerpt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6" y="2066543"/>
            <a:ext cx="6583680" cy="1719072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1050" b="0" i="0">
                <a:solidFill>
                  <a:srgbClr val="0B1F33"/>
                </a:solidFill>
                <a:latin typeface="Courier New"/>
              </a:rPr>
              <a:t>Write the body of generate_signals(prices, features) in pandas.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Use only past data at each row. No imports, no file or network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access, no shift with a negative number. Return weights between 0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and 1 for every ticker and date. Keep it under 40 lines and comment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each indicator. If you receive an error, fix only what it names.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968496"/>
            <a:ext cx="6839712" cy="235915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4041648"/>
            <a:ext cx="65836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What it wrote: breakout_20d_volscale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4336" y="4279392"/>
            <a:ext cx="6583680" cy="1975104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950" b="0" i="0">
                <a:solidFill>
                  <a:srgbClr val="0B1F33"/>
                </a:solidFill>
                <a:latin typeface="Courier New"/>
              </a:rPr>
              <a:t>def generate_signals(prices: pd.DataFrame, features: pd.DataFrame) -&gt; pd.DataFrame: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"""Target weights in [0, 1], indexed like prices. Past data only."""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high20 = prices.rolling(20).max().shift(1)      # yesterday's 20-day high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sma20  = prices.rolling(20).mean()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entry  = prices &gt; high20                        # breakout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exit_  = prices &lt; sma20                         # trend lost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held   = entry.where(entry | exit_).ffill().fillna(False)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vol20  = features["ret_1d"].rolling(20).std() * 252 ** 0.5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raw    = held.astype(float) / vol20             # inverse-vol sizing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w      = raw.div(raw.sum(axis=1), axis=0).fillna(0.0)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return w.clip(upper=0.30)                       # no name above 30%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Critic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Phase 1. Reads numbers, not prices, and never sees the season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83112" cy="493776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50" b="0" i="0">
                <a:solidFill>
                  <a:srgbClr val="FFFFFF"/>
                </a:solidFill>
                <a:latin typeface="Georgia"/>
              </a:rPr>
              <a:t>Keep or Discard, with the concern named: overfitting, turnover, concentration.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847088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084831"/>
            <a:ext cx="3867911" cy="557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243447"/>
                </a:solidFill>
                <a:latin typeface="Aptos"/>
              </a:rPr>
              <a:t>Review each backtested strategy on its train and validation metrics; flag overfitting and churn; suggest what to try next.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25496"/>
            <a:ext cx="41605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916936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154679"/>
            <a:ext cx="3867911" cy="7406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The code, train metrics, validation metrics, the notebook summary, and lessons from the coach such as the turnover limit.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78224"/>
            <a:ext cx="4160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4169663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407408"/>
            <a:ext cx="3867911" cy="649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Review: verdict KEEP or DISCARD, a list of concerns, and one suggestion. Written to the notebook with the metrics.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39512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5330952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TOOLS AND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5568696"/>
            <a:ext cx="3867911" cy="557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No tools. The season window is still sealed when it runs, so it cannot grade on the answer.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755648"/>
            <a:ext cx="6839712" cy="21031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4336" y="1828800"/>
            <a:ext cx="65836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Prompt, excerpt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6" y="2066543"/>
            <a:ext cx="6583680" cy="1719072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1050" b="0" i="0">
                <a:solidFill>
                  <a:srgbClr val="0B1F33"/>
                </a:solidFill>
                <a:latin typeface="Courier New"/>
              </a:rPr>
              <a:t>You are a skeptical risk reviewer. Compare train and validation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Sharpe: a gap above 0.5 suggests overfitting. Discard validation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turnover above {max_turnover} percent per year. Flag any single-name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weight above 30 percent. Say what evidence would change your mind.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Lessons from the coach: {lessons}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968496"/>
            <a:ext cx="6839712" cy="235915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4041648"/>
            <a:ext cx="65836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Code running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4336" y="4279392"/>
            <a:ext cx="6583680" cy="1975104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950" b="0" i="0">
                <a:solidFill>
                  <a:srgbClr val="0B1F33"/>
                </a:solidFill>
                <a:latin typeface="Courier New"/>
              </a:rPr>
              <a:t>review = llm.structured(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system=prompts.load("critic", lessons=store.lessons("critic")),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user=f"Code:\n{code}\n\nTrain: {m_train}\nValidation: {m_val}\n\n"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     f"Notebook:\n{notebook.summary()}",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schema=Review,              # verdict, concerns[], suggestion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)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notebook.add(hyp, code, m_train, m_val, review)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/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# a Review, as returned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{"verdict": "KEEP",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"concerns": ["top position averages 28% of the book"],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"suggestion": "test a 25% cap; turnover 140%/yr is inside the limit"}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Trader personas, and the optional 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Phase 2. One call per ticker at each rebalance, from a point-in-time 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83112" cy="493776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50" b="0" i="0">
                <a:solidFill>
                  <a:srgbClr val="FFFFFF"/>
                </a:solidFill>
                <a:latin typeface="Georgia"/>
              </a:rPr>
              <a:t>The persona sees only what existed on the decision date, about 300 tokens, and answers in a fixed JSON shape.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847088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084831"/>
            <a:ext cx="3867911" cy="557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243447"/>
                </a:solidFill>
                <a:latin typeface="Aptos"/>
              </a:rPr>
              <a:t>Make a discretionary BUY, SELL or HOLD call with a target weight, a confidence, and one sentence grounded in the snapshot.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25496"/>
            <a:ext cx="41605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916936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154679"/>
            <a:ext cx="3867911" cy="7406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Snapshot: last 20 closes, price against the 20, 50 and 200-day averages, RSI 14, returns over 1, 3 and 12 months, realized volatility, current weight.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78224"/>
            <a:ext cx="4160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4169663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407408"/>
            <a:ext cx="3867911" cy="649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Decision: action, target_weight, confidence, reason. The engine fills at the next open and charges the cost.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39512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5330952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TOOLS AND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5568696"/>
            <a:ext cx="3867911" cy="557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243447"/>
                </a:solidFill>
                <a:latin typeface="Aptos"/>
              </a:rPr>
              <a:t>No tools. Three personas share the code and differ only by prompt file. With --committee a PM Agent merges their votes into one allocation.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755648"/>
            <a:ext cx="6839712" cy="21031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4336" y="1828800"/>
            <a:ext cx="65836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Prompt, excerpt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6" y="2066543"/>
            <a:ext cx="6583680" cy="1719072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1050" b="0" i="0">
                <a:solidFill>
                  <a:srgbClr val="0B1F33"/>
                </a:solidFill>
                <a:latin typeface="Courier New"/>
              </a:rPr>
              <a:t>You are a momentum trader managing one sleeve of a long-only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portfolio. ... Decide one action: BUY, SELL or HOLD, with a target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weight between 0 and the maximum allowed, a confidence from 0 to 1,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and one sentence grounded in the numbers shown. Never reference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information not in the snapshot.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## Lessons from the coach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1. (after S1) Do not call a stock oversold unless RSI 14 is below 30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   and it sits below its 50-day average.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968496"/>
            <a:ext cx="6839712" cy="235915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4041648"/>
            <a:ext cx="65836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One decision, in full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4336" y="4279392"/>
            <a:ext cx="6583680" cy="1975104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950" b="0" i="0">
                <a:solidFill>
                  <a:srgbClr val="0B1F33"/>
                </a:solidFill>
                <a:latin typeface="Courier New"/>
              </a:rPr>
              <a:t># what the model saw (features.snapshot("AAPL", as_of="2025-10-20"))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ticker: AAPL   as_of: 2025-10-20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closes_20d: 227.1 229.4 ... 236.8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vs_sma20: +1.9%  vs_sma50: +4.2%  vs_sma200: +9.8%   rsi14: 58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ret_1m: +3.1%  ret_3m: +11.0%  ret_12m: +19.4%   vol_20d_ann: 21%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current_weight: 0.20   max_weight: 0.30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/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# what it returned (schema-constrained, temperature 0)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{"action": "BUY", "target_weight": 0.25, "confidence": 0.66,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"reason": "Broke above the 20-day high on rising volume; 3-month +11%; RSI 58."}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/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engine.queue("AAPL", 0.25, fill="next_open")   # filled 21 Oct, cost 0.6 bp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Review Agent, the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Phase 4. One call per season. The only agent allowed to change the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83112" cy="493776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50" b="0" i="0">
                <a:solidFill>
                  <a:srgbClr val="FFFFFF"/>
                </a:solidFill>
                <a:latin typeface="Georgia"/>
              </a:rPr>
              <a:t>It may recommend, but only from a fixed menu of levers, and every change is logged with a condition for reverting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847088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084831"/>
            <a:ext cx="3867911" cy="557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243447"/>
                </a:solidFill>
                <a:latin typeface="Aptos"/>
              </a:rPr>
              <a:t>Assess the season in plain words, say what worked and what failed, and recommend one to three changes grounded in numbers.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25496"/>
            <a:ext cx="41605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916936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154679"/>
            <a:ext cx="3867911" cy="7406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The season scorecard, the track record, the changelog, the notebook summary, and the desk's three best and three worst decisions. About 1,500 tokens.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78224"/>
            <a:ext cx="4160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4169663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407408"/>
            <a:ext cx="3867911" cy="649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SeasonReview: assessment, what_worked, what_failed, recommendations, each with lever, target, change, rationale, expected_effect, revert_if.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39512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5330952"/>
            <a:ext cx="386791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TOOLS AND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5568696"/>
            <a:ext cx="3867911" cy="557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243447"/>
                </a:solidFill>
                <a:latin typeface="Aptos"/>
              </a:rPr>
              <a:t>No tools. Levers: add_lesson, remove_lesson, set_param within a range, set_family_focus, retire_strategy, reinstate_strategy, revert. Universe, costs, data and model are frozen.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755648"/>
            <a:ext cx="6839712" cy="21031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4336" y="1828800"/>
            <a:ext cx="65836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Prompt, excerpt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6" y="2066543"/>
            <a:ext cx="6583680" cy="1719072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1050" b="0" i="0">
                <a:solidFill>
                  <a:srgbClr val="0B1F33"/>
                </a:solidFill>
                <a:latin typeface="Courier New"/>
              </a:rPr>
              <a:t>You coach an AI investment team. Read the season packet. Explain the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result in plain words, grounded in the numbers. Recommend at most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three changes, each using one lever from the menu, with the metric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you expect to move and the condition for reverting it. Prefer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removing a bad lesson over adding a new one. Never touch the</a:t>
            </a:r>
          </a:p>
          <a:p>
            <a:r>
              <a:rPr sz="1050" b="0" i="0">
                <a:solidFill>
                  <a:srgbClr val="0B1F33"/>
                </a:solidFill>
                <a:latin typeface="Courier New"/>
              </a:rPr>
              <a:t>universe, costs, data or model.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968496"/>
            <a:ext cx="6839712" cy="235915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4041648"/>
            <a:ext cx="65836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Apply, then the lesson appears in the prompt 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4336" y="4279392"/>
            <a:ext cx="6583680" cy="1975104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950" b="0" i="0">
                <a:solidFill>
                  <a:srgbClr val="0B1F33"/>
                </a:solidFill>
                <a:latin typeface="Courier New"/>
              </a:rPr>
              <a:t>review = llm.structured(system=prompts.load("review"),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                    user=packet.as_text(), schema=SeasonReview)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for rec in review.recommendations: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change = LEVERS[rec.lever].apply(rec)   # raises if outside menu or range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changelog.append(change, season=s)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/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# one recommendation, as returned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{"lever": "add_lesson", "target": "trader_momentum",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"change": "After a drawdown over 8% reverses above the 20-day for two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           weeks, re-enter rather than wait for the 50-day.",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"rationale": "Waiting for the 50-day cost 7.1 points on SPY in April.",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 "expected_effect": "earlier re-entry", "revert_if": "two losing re-entries"}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The deterministic core never calls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Engine, sandbox, lookahead guard, selector, scorer: plain Python you can unit-test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83112" cy="493776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50" b="0" i="0">
                <a:solidFill>
                  <a:srgbClr val="FFFFFF"/>
                </a:solidFill>
                <a:latin typeface="Georgia"/>
              </a:rPr>
              <a:t>If it can be a function, it is a function. The model only fills the gaps that need judgment.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3657600" cy="30632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828800"/>
            <a:ext cx="3401568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Engine: tonight's signal trades tomorrow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066543"/>
            <a:ext cx="3401568" cy="2679191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900" b="0" i="0">
                <a:solidFill>
                  <a:srgbClr val="0B1F33"/>
                </a:solidFill>
                <a:latin typeface="Courier New"/>
              </a:rPr>
              <a:t>def run(weights, prices, cost_bps=5):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w = weights.clip(0, 1).shift(1)   # lag 1 bar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w = w.fillna(0)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ret = prices.pct_change().fillna(0)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turn = w.diff().abs().sum(axis=1)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cost = cost_bps / 1e4 * turn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pnl = (w * ret).sum(axis=1) - cost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equity = (1 + pnl).cumprod()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return Result(equity, pnl, turn.sum())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/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# per window: CAGR, vol, Sharpe,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# Sortino, max drawdown, turnover, hit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755648"/>
            <a:ext cx="3657600" cy="30632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828800"/>
            <a:ext cx="3401568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Sandbox: model code never runs as-is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2066543"/>
            <a:ext cx="3401568" cy="2679191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900" b="0" i="0">
                <a:solidFill>
                  <a:srgbClr val="0B1F33"/>
                </a:solidFill>
                <a:latin typeface="Courier New"/>
              </a:rPr>
              <a:t>tree = ast.parse(code)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for node in ast.walk(tree):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if is_import(node):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    raise Rejected("no imports")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if is_call(node, "shift") and neg_arg(node):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    raise Rejected(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      f"shift(-n) reads the future, "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      f"line {node.lineno}")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if is_call(node, ("open", "eval", "exec")):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    raise Rejected("no files, no eval")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fn = run_in_subprocess(code, timeout=5)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# allowed: pandas, numpy, math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755648"/>
            <a:ext cx="3648456" cy="30632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828800"/>
            <a:ext cx="3392424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Lookahead guard, selector, scorer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066543"/>
            <a:ext cx="3392424" cy="2679191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900" b="0" i="0">
                <a:solidFill>
                  <a:srgbClr val="0B1F33"/>
                </a:solidFill>
                <a:latin typeface="Courier New"/>
              </a:rPr>
              <a:t>full = fn(prices, features)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cut  = fn(prices.iloc[:-60],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      features.iloc[:-60])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assert full.iloc[:-60].equals(cut)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/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# selector: validation only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book = max((s for s in notebook.kept()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        if s.val.sharpe &gt;= 0.5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        and s.val.turnover &lt;= 300),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           key=lambda s: s.val.sharpe)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/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# scorer: half book, half desk</a:t>
            </a:r>
          </a:p>
          <a:p>
            <a:r>
              <a:rPr sz="900" b="0" i="0">
                <a:solidFill>
                  <a:srgbClr val="0B1F33"/>
                </a:solidFill>
                <a:latin typeface="Courier New"/>
              </a:rPr>
              <a:t>team = 0.5 * book.pnl + 0.5 * desk.pnl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83480"/>
            <a:ext cx="11183112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1769AA"/>
                </a:solidFill>
                <a:latin typeface="Aptos"/>
              </a:rPr>
              <a:t>WHAT THE TESTS 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285232"/>
            <a:ext cx="3520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5358384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5632704"/>
            <a:ext cx="3246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A five-bar example worked by hand gives the exact equity curve, including the one-bar lag and the cost.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5285232"/>
            <a:ext cx="3520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5358384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Sandbox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632704"/>
            <a:ext cx="3246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Must reject import os, open(), and shift(-1), and must time out an infinite loop at five seconds.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5592" y="5285232"/>
            <a:ext cx="3520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5358384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Lookahead 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5632704"/>
            <a:ext cx="3246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Must catch a strategy that deliberately peeks, and must pass every baseline.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A strategy the Coder wrote, shown on one ticker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Price, indicators, entries, exits and position size, straight from the dashboard's Strategy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009497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0" i="0">
                <a:solidFill>
                  <a:srgbClr val="667085"/>
                </a:solidFill>
                <a:latin typeface="Aptos"/>
              </a:rPr>
              <a:t>Strategy tab of the live page. The chart is drawn from the book's actual weights and the cached prices.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" y="969264"/>
            <a:ext cx="7754112" cy="316473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rateg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7680960" cy="309158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120640"/>
            <a:ext cx="7680960" cy="11887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 i="0">
                <a:solidFill>
                  <a:srgbClr val="1769AA"/>
                </a:solidFill>
                <a:latin typeface="Aptos"/>
              </a:rPr>
              <a:t>What the tab shows: the season's quant book on one ticker. In this run the equal-weight baseline won validation every season, so the book held each of the 12 names at 8%, rebalanced weekly. Cost: 5 bp per unit of weight traded. Fill: next open, never the same close.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005840"/>
            <a:ext cx="3319272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13064" y="1097280"/>
            <a:ext cx="302666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READ THE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4" y="1335024"/>
            <a:ext cx="3026664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Black is the close; blue and orange are the 20 and 50-day averages; grey steps are the previous 20-day high. Green triangles mark where the book entered, red where it exited. Shaded bands are days it held the name.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816352"/>
            <a:ext cx="3319272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3064" y="2907792"/>
            <a:ext cx="302666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BELOW THE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3064" y="3145536"/>
            <a:ext cx="3026664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The weight the book assigned to this name, then the sleeve's growth against simply holding the stock at the book's maximum weight.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626864"/>
            <a:ext cx="3319272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3064" y="4718304"/>
            <a:ext cx="302666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WHY IT MATTERS IN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4956048"/>
            <a:ext cx="3026664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Whatever the code says, students can check it against prices day by day, switch tickers, and open the trade list to see each entry and exit.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Eight rules that keep a swarm in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Enforced in code, not by convention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83112" cy="493776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50" b="0" i="0">
                <a:solidFill>
                  <a:srgbClr val="FFFFFF"/>
                </a:solidFill>
                <a:latin typeface="Georgia"/>
              </a:rPr>
              <a:t>A swarm here means separation of concerns, not a free-for-all. On one laptop it is not even faster.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920240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83664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Fixed roster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22576"/>
            <a:ext cx="2368296" cy="10607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Seven roles, declared in code. No agent can spawn another agent.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55648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02152" y="1920240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883664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The orchestrator is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322576"/>
            <a:ext cx="2368296" cy="10607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A Python state machine runs the phases in order. No model decides who speaks next.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55648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36792" y="1920240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883664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No agent-to-agent 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322576"/>
            <a:ext cx="2368296" cy="10607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Agents read and write typed pydantic artifacts on a shared run store. No conversation loops.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55648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71432" y="1920240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1883664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One prompt, one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2322576"/>
            <a:ext cx="2368296" cy="10607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Per agent: one prompt file, one output schema, at most four tools, at most three retries.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5760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3822191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785615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Budgets everywhere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4224528"/>
            <a:ext cx="2368296" cy="10607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Calls, minutes and strategies per season and per campaign. Hitting a budget stops cleanly with partial results.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365760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02152" y="3822191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785615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Sequential by default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4224528"/>
            <a:ext cx="2368296" cy="10607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One laptop serves one model. A --parallel flag exists to prove that it buys nothing.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65760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36792" y="3822191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785615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Everything replayable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4224528"/>
            <a:ext cx="2368296" cy="10607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Every event is appended to a JSONL trace. The dashboard replays any run at 1x, 5x or instant.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365760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71432" y="3822191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785615"/>
            <a:ext cx="203911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1" i="0">
                <a:solidFill>
                  <a:srgbClr val="0B1F33"/>
                </a:solidFill>
                <a:latin typeface="Aptos"/>
              </a:rPr>
              <a:t>The coach has a menu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4224528"/>
            <a:ext cx="2368296" cy="10607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243447"/>
                </a:solidFill>
                <a:latin typeface="Aptos"/>
              </a:rPr>
              <a:t>The Review Agent can only pull fixed levers inside allowed ranges. Universe, costs, data and model stay frozen.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62356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 i="0">
                <a:solidFill>
                  <a:srgbClr val="1769AA"/>
                </a:solidFill>
                <a:latin typeface="Aptos"/>
              </a:rPr>
              <a:t>Budget math on a laptop: about 50 model calls and 4 minutes per season, so 6 seasons take 20 to 30 minutes. Three personas triple the desk calls, which is why Replay exists.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Mission Control: the dashboard students run in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One local page, no login. Press Walkthrough for the 17-step guided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009497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0" i="0">
                <a:solidFill>
                  <a:srgbClr val="667085"/>
                </a:solidFill>
                <a:latin typeface="Aptos"/>
              </a:rPr>
              <a:t>Live page during a real campaign on Oct 23, 2026, qwen3:8b on a Mac Studio.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969264"/>
            <a:ext cx="7095744" cy="44622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005840"/>
            <a:ext cx="7022592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005840"/>
            <a:ext cx="33192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13064" y="1097280"/>
            <a:ext cx="302666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3064" y="1335024"/>
            <a:ext cx="3026664" cy="9692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17 steps. Each Next reveals the agent events for that stage, highlights the panel, and shows the Python running at that moment plus the background processes.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487168"/>
            <a:ext cx="33192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13064" y="2578608"/>
            <a:ext cx="302666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LIVE FEED AND STEP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3064" y="2816352"/>
            <a:ext cx="3026664" cy="9692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Every agent turn, tool call, decision and reason, colour-coded by agent. Pause and step one turn at a time while you narrate.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968496"/>
            <a:ext cx="33192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4059935"/>
            <a:ext cx="302666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TABS FOR EVERYTHING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4297680"/>
            <a:ext cx="3026664" cy="9692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Progress, Strategy, Season, Notebook, Desk, Reviews, Changelog, Prompts, Processes, Runs. Deep links such as #reviews jump straight there.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77840"/>
            <a:ext cx="11183112" cy="64008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 i="0">
                <a:solidFill>
                  <a:srgbClr val="1769AA"/>
                </a:solidFill>
                <a:latin typeface="Aptos"/>
              </a:rPr>
              <a:t>Served by FastAPI with Server-Sent Events; one static HTML file, no build step, works offline. Start with: uv run python -m aitrader serve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Is the team improving? The Progress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Track record, excess return by season, and whether validation predicted the season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009497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0" i="0">
                <a:solidFill>
                  <a:srgbClr val="667085"/>
                </a:solidFill>
                <a:latin typeface="Aptos"/>
              </a:rPr>
              <a:t>Real run, Oct 23, 2026. A handful of seasons cannot separate skill from luck. The lab teaches the measurement and the honest question, not a result.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" y="969264"/>
            <a:ext cx="7022592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05840"/>
            <a:ext cx="6949440" cy="4343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005840"/>
            <a:ext cx="33192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13064" y="1097280"/>
            <a:ext cx="302666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TRACK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3064" y="1335024"/>
            <a:ext cx="3026664" cy="9692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Growth of 1.00 across seasons the team had not seen, for team, quant book, desk and SPY. Numbered flags mark where each coach change took effect.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487168"/>
            <a:ext cx="33192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13064" y="2578608"/>
            <a:ext cx="302666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DID VALIDATION PREDICT THE SEASON?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3064" y="2816352"/>
            <a:ext cx="3026664" cy="9692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Hollow dot: Sharpe on the validation year. Filled dot: Sharpe on the quarter it then traded. The gap is the overfitting lesson.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968496"/>
            <a:ext cx="33192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4059935"/>
            <a:ext cx="302666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 i="0">
                <a:solidFill>
                  <a:srgbClr val="1769AA"/>
                </a:solidFill>
                <a:latin typeface="Aptos"/>
              </a:rPr>
              <a:t>THE CLEANEST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4297680"/>
            <a:ext cx="3026664" cy="9692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Run the same seasons with the coach switched off and overlay the two campaigns. The Runs tab does this with one click.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 i="0">
                <a:solidFill>
                  <a:srgbClr val="1769AA"/>
                </a:solidFill>
                <a:latin typeface="Aptos"/>
              </a:rPr>
              <a:t>Scorecard: seasons beating SPY, excess return since season 1, out-of-sample Sharpe, worst drawdown, strategies tried, lessons the coach kept.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Agent engineering practices you can point to in the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Each one is named in a comment and in the README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83112" cy="493776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50" b="0" i="0">
                <a:solidFill>
                  <a:srgbClr val="FFFFFF"/>
                </a:solidFill>
                <a:latin typeface="Georgia"/>
              </a:rPr>
              <a:t>The repo is as much about how to build agents as about trading.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3520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" y="1901952"/>
            <a:ext cx="237744" cy="237744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47088"/>
            <a:ext cx="29260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Tools compute, the model reasons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212848"/>
            <a:ext cx="32461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The model never does arithmetic or touches a DataFrame.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755648"/>
            <a:ext cx="3520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901952"/>
            <a:ext cx="237744" cy="237744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1847088"/>
            <a:ext cx="29260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Small, typed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12848"/>
            <a:ext cx="32461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At most four per agent, documented, returning compact 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5592" y="1755648"/>
            <a:ext cx="3520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11896" y="1901952"/>
            <a:ext cx="237744" cy="237744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847088"/>
            <a:ext cx="29260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Schema-enforced 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212848"/>
            <a:ext cx="32461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JSON shape fixed by the model's schema mode, validated by pydantic, retried with the error.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98648"/>
            <a:ext cx="3520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" y="3044952"/>
            <a:ext cx="237744" cy="237744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2990088"/>
            <a:ext cx="29260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Bounded loops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355848"/>
            <a:ext cx="32461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Max steps, wall-clock budget, tool-call cap, call budget per season.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4256" y="2898648"/>
            <a:ext cx="3520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80560" y="3044952"/>
            <a:ext cx="237744" cy="237744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9744" y="2990088"/>
            <a:ext cx="29260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Observability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355848"/>
            <a:ext cx="32461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Every prompt, call and decision in a JSONL trace; replayable in the dashboard.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65592" y="2898648"/>
            <a:ext cx="3520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11896" y="3044952"/>
            <a:ext cx="237744" cy="237744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2990088"/>
            <a:ext cx="29260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No lookahead by construction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3355848"/>
            <a:ext cx="32461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Data sliced as-of the cutoff, one-bar execution lag, perturbation test.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041648"/>
            <a:ext cx="3520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9224" y="4187952"/>
            <a:ext cx="237744" cy="237744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4133087"/>
            <a:ext cx="29260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Sandboxed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" y="4498848"/>
            <a:ext cx="32461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AST allowlist, no imports or files, subprocess with a time limit.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34256" y="4041648"/>
            <a:ext cx="3520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80560" y="4187952"/>
            <a:ext cx="237744" cy="237744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9744" y="4133087"/>
            <a:ext cx="29260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Evaluation first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498848"/>
            <a:ext cx="32461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Train, validation, sealed season. Strategies tried are counted and shown.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65592" y="4041648"/>
            <a:ext cx="3520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11896" y="4187952"/>
            <a:ext cx="237744" cy="237744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4133087"/>
            <a:ext cx="29260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Reproducibility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1896" y="4498848"/>
            <a:ext cx="32461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Temperature 0, pinned model tag, dataset hash, prompts stored with results.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184648"/>
            <a:ext cx="3520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9224" y="5330952"/>
            <a:ext cx="237744" cy="237744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" y="5276088"/>
            <a:ext cx="29260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Memory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" y="5641848"/>
            <a:ext cx="32461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A lab notebook and per-agent lessons persist across seasons.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6" y="5184648"/>
            <a:ext cx="3520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480560" y="5330952"/>
            <a:ext cx="237744" cy="237744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9744" y="5276088"/>
            <a:ext cx="29260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Human in the loop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5641848"/>
            <a:ext cx="32461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Step mode, approve mode for coach changes, editable prompts.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65592" y="5184648"/>
            <a:ext cx="352044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311896" y="5330952"/>
            <a:ext cx="237744" cy="237744"/>
          </a:xfrm>
          <a:prstGeom prst="ellipse">
            <a:avLst/>
          </a:prstGeom>
          <a:solidFill>
            <a:srgbClr val="11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5276088"/>
            <a:ext cx="292608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Workflows over free-form agents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1896" y="5641848"/>
            <a:ext cx="32461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The orchestrator is code; agents do judgment inside fixed phases.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What actually happened: the first full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6 quarterly seasons, qwen3:8b, one momentum persona, coach on, Oct 23,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83112" cy="493776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50" b="0" i="0">
                <a:solidFill>
                  <a:srgbClr val="FFFFFF"/>
                </a:solidFill>
                <a:latin typeface="Georgia"/>
              </a:rPr>
              <a:t>Out of sample, season by season. Read it as a measurement of the loop, not as a verdict on AI trading.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009497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0" i="0">
                <a:solidFill>
                  <a:srgbClr val="667085"/>
                </a:solidFill>
                <a:latin typeface="Aptos"/>
              </a:rPr>
              <a:t>Research tried 28 strategies; the coach applied 16 changes. Costs 5 bp per unit of weight traded. Partial seasons use data up to the last available 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55648"/>
            <a:ext cx="256946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65376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400" b="1" i="0">
                <a:solidFill>
                  <a:srgbClr val="002D72"/>
                </a:solidFill>
                <a:latin typeface="Georgia"/>
              </a:rPr>
              <a:t>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359152"/>
            <a:ext cx="21945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243447"/>
                </a:solidFill>
                <a:latin typeface="Aptos"/>
              </a:rPr>
              <a:t>seasons the team beat SPY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755648"/>
            <a:ext cx="256946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865376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400" b="1" i="0">
                <a:solidFill>
                  <a:srgbClr val="002D72"/>
                </a:solidFill>
                <a:latin typeface="Georgia"/>
              </a:rPr>
              <a:t>+19.0%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359152"/>
            <a:ext cx="21945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243447"/>
                </a:solidFill>
                <a:latin typeface="Aptos"/>
              </a:rPr>
              <a:t>team, compounded over the 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755648"/>
            <a:ext cx="256946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865376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400" b="1" i="0">
                <a:solidFill>
                  <a:srgbClr val="002D72"/>
                </a:solidFill>
                <a:latin typeface="Georgia"/>
              </a:rPr>
              <a:t>+29.6%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359152"/>
            <a:ext cx="21945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243447"/>
                </a:solidFill>
                <a:latin typeface="Aptos"/>
              </a:rPr>
              <a:t>SPY over the same quarters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97112" y="1755648"/>
            <a:ext cx="256946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1865376"/>
            <a:ext cx="21945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400" b="1" i="0">
                <a:solidFill>
                  <a:srgbClr val="002D72"/>
                </a:solidFill>
                <a:latin typeface="Georgia"/>
              </a:rPr>
              <a:t>+30.7%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359152"/>
            <a:ext cx="21945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243447"/>
                </a:solidFill>
                <a:latin typeface="Aptos"/>
              </a:rPr>
              <a:t>quant book alone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00400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667085"/>
                </a:solidFill>
                <a:latin typeface="Aptos"/>
              </a:rPr>
              <a:t>Season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200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667085"/>
                </a:solidFill>
                <a:latin typeface="Aptos"/>
              </a:rPr>
              <a:t>Quant 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20040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1" i="0">
                <a:solidFill>
                  <a:srgbClr val="667085"/>
                </a:solidFill>
                <a:latin typeface="Aptos"/>
              </a:rPr>
              <a:t>Val Sharpe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20040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1" i="0">
                <a:solidFill>
                  <a:srgbClr val="667085"/>
                </a:solidFill>
                <a:latin typeface="Aptos"/>
              </a:rPr>
              <a:t>Season Sharpe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32004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1" i="0">
                <a:solidFill>
                  <a:srgbClr val="667085"/>
                </a:solidFill>
                <a:latin typeface="Aptos"/>
              </a:rPr>
              <a:t>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59" y="32004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1" i="0">
                <a:solidFill>
                  <a:srgbClr val="667085"/>
                </a:solidFill>
                <a:latin typeface="Aptos"/>
              </a:rPr>
              <a:t>SPY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32004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1" i="0">
                <a:solidFill>
                  <a:srgbClr val="667085"/>
                </a:solidFill>
                <a:latin typeface="Aptos"/>
              </a:rPr>
              <a:t>Excess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59" y="32004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1" i="0">
                <a:solidFill>
                  <a:srgbClr val="667085"/>
                </a:solidFill>
                <a:latin typeface="Aptos"/>
              </a:rPr>
              <a:t>Desk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59" y="3200400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667085"/>
                </a:solidFill>
                <a:latin typeface="Aptos"/>
              </a:rPr>
              <a:t>Changes after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511296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S1, 2025 Q1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3511296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equal_weight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511296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2.03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511296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-2.00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59" y="351129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−16.1%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59" y="351129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−4.3%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351129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−11.8%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59" y="351129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−17.4%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59" y="3511296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1, 2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803904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S2, 2025 Q2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3803904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equal_weight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3803904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0.68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3803904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2.61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59" y="3803904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+24.2%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59" y="3803904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+10.8%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59" y="3803904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+13.5%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59" y="3803904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+18.0%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5559" y="3803904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3, 4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09651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S3, 2025 Q3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65960" y="4096512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equal_weight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4096512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1.07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49240" y="4096512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3.17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59" y="409651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+14.3%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59" y="409651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+8.1%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59" y="409651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+6.2%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59" y="409651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+14.6%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95559" y="409651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5, 6, 7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389120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S4, 2025 Q4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65960" y="4389120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equal_weight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3400" y="43891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1.32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49240" y="43891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0.42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7959" y="43891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+1.5%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52359" y="43891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+2.7%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59" y="43891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−1.2%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81159" y="43891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+1.2%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95559" y="4389120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8, 9, 10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4681728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S5, 2026 Q1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65960" y="4681728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equal_weight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43400" y="468172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0.97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49240" y="4681728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-2.14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37959" y="468172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−8.7%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52359" y="468172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−4.4%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66759" y="468172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−4.3%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81159" y="468172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−5.4%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95559" y="4681728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11, 12, 13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4974336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S6, 2026 Q2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65960" y="4974336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equal_weight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43400" y="4974336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1.12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49240" y="4974336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2.56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7959" y="497433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+7.7%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52359" y="497433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+15.1%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66759" y="497433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−7.4%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81159" y="497433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0" i="0">
                <a:solidFill>
                  <a:srgbClr val="243447"/>
                </a:solidFill>
                <a:latin typeface="Aptos"/>
              </a:rPr>
              <a:t>−0.0%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95559" y="4974336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243447"/>
                </a:solidFill>
                <a:latin typeface="Aptos"/>
              </a:rPr>
              <a:t>14, 15, 16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02920" y="5404104"/>
            <a:ext cx="11183112" cy="64008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1" i="0">
                <a:solidFill>
                  <a:srgbClr val="1769AA"/>
                </a:solidFill>
                <a:latin typeface="Aptos"/>
              </a:rPr>
              <a:t>Questions for the room: did validation Sharpe predict the season? Did the coach's changes do what they expected? Would a run with the coach switched off look different?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Run it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Everything is public. Clone it, pull one model, open the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0094976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0" i="0">
                <a:solidFill>
                  <a:srgbClr val="667085"/>
                </a:solidFill>
                <a:latin typeface="Aptos"/>
              </a:rPr>
              <a:t>Published Oct 24, 2026: design spec, dashboard and the Python package are in the repo. 52 offline tests; verified end to end against Ollama with real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675120" cy="24231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6419088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750" b="1" i="0">
                <a:solidFill>
                  <a:srgbClr val="1769AA"/>
                </a:solidFill>
                <a:latin typeface="Aptos"/>
              </a:rPr>
              <a:t>Three commands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1316736"/>
            <a:ext cx="6419088" cy="2039111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r>
              <a:rPr sz="950" b="0" i="0">
                <a:solidFill>
                  <a:srgbClr val="0B1F33"/>
                </a:solidFill>
                <a:latin typeface="Courier New"/>
              </a:rPr>
              <a:t>ollama pull qwen3:8b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git clone https://github.com/jimkliew/aiInvesting.git &amp;&amp; cd aiInvesting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uv run python -m aitrader serve          # http://localhost:8000, click Run campaign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/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# or the command line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uv run python -m aitrader campaign --quick               # 2 short seasons, ~2 min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uv run python -m aitrader campaign --personas momentum,contrarian --apply approve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uv run python -m aitrader replay runs/&lt;campaign&gt; --speed 5</a:t>
            </a:r>
          </a:p>
          <a:p>
            <a:r>
              <a:rPr sz="950" b="0" i="0">
                <a:solidFill>
                  <a:srgbClr val="0B1F33"/>
                </a:solidFill>
                <a:latin typeface="Courier New"/>
              </a:rPr>
              <a:t>uv run pytest                                            # 52 offline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005840"/>
            <a:ext cx="4325112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07224" y="1097280"/>
            <a:ext cx="402336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1" i="0">
                <a:solidFill>
                  <a:srgbClr val="1769AA"/>
                </a:solidFill>
                <a:latin typeface="Aptos"/>
              </a:rPr>
              <a:t>WHICH MODEL FOR WHICH LAPTOP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7224" y="1389888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002D72"/>
                </a:solidFill>
                <a:latin typeface="Georgia"/>
              </a:rPr>
              <a:t>8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389888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B1F33"/>
                </a:solidFill>
                <a:latin typeface="Courier New"/>
              </a:rPr>
              <a:t>qwen3:4b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645920"/>
            <a:ext cx="32004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243447"/>
                </a:solidFill>
                <a:latin typeface="Aptos"/>
              </a:rPr>
              <a:t>slower; run 3 seasons; use Replay in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4" y="2029967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002D72"/>
                </a:solidFill>
                <a:latin typeface="Georgia"/>
              </a:rPr>
              <a:t>16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29967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B1F33"/>
                </a:solidFill>
                <a:latin typeface="Courier New"/>
              </a:rPr>
              <a:t>qwen3:8b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86000"/>
            <a:ext cx="32004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243447"/>
                </a:solidFill>
                <a:latin typeface="Aptos"/>
              </a:rPr>
              <a:t>the default,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7224" y="2670048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002D72"/>
                </a:solidFill>
                <a:latin typeface="Georgia"/>
              </a:rPr>
              <a:t>32 GB+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B1F33"/>
                </a:solidFill>
                <a:latin typeface="Courier New"/>
              </a:rPr>
              <a:t>qwen3:14b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926080"/>
            <a:ext cx="32004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243447"/>
                </a:solidFill>
                <a:latin typeface="Aptos"/>
              </a:rPr>
              <a:t>better code, about twice as slow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657600"/>
            <a:ext cx="11183112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1769AA"/>
                </a:solidFill>
                <a:latin typeface="Aptos"/>
              </a:rPr>
              <a:t>IN THE REPO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77639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69079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Courier New"/>
              </a:rPr>
              <a:t>docs/superpowers/specs/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4379976"/>
            <a:ext cx="521208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The full design: roles, phases, schemas, lever menu, budgets, error handling, test plan, two-day build schedule.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977639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4069079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Courier New"/>
              </a:rPr>
              <a:t>docs/mockups/mission-control.html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4379976"/>
            <a:ext cx="521208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The dashboard you just saw. One file, open it in any browser, no server needed.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2064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5212079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Courier New"/>
              </a:rPr>
              <a:t>aitrader/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5522976"/>
            <a:ext cx="521208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The package: orchestrator, agents, prompts, levers, sandbox, engine, web server. 52 tests run offline with a fake model.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512064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5936" y="5212079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1" i="0">
                <a:solidFill>
                  <a:srgbClr val="0B1F33"/>
                </a:solidFill>
                <a:latin typeface="Aptos"/>
              </a:rPr>
              <a:t>No secrets, by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5522976"/>
            <a:ext cx="521208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0">
                <a:solidFill>
                  <a:srgbClr val="243447"/>
                </a:solidFill>
                <a:latin typeface="Aptos"/>
              </a:rPr>
              <a:t>Nothing in the repo needs a key, so there is nothing to leak. The .gitignore excludes data and run folders. MIT license.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217920"/>
            <a:ext cx="1118311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 i="0">
                <a:solidFill>
                  <a:srgbClr val="1769AA"/>
                </a:solidFill>
                <a:latin typeface="Aptos"/>
              </a:rPr>
              <a:t>https://github.com/jimkliew/aiInvesting</a:t>
            </a:r>
            <a:r>
              <a:rPr sz="1400" b="0" i="0">
                <a:solidFill>
                  <a:srgbClr val="667085"/>
                </a:solidFill>
                <a:latin typeface="Aptos"/>
              </a:rPr>
              <a:t>   open source under the MIT license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1118311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50" b="1" i="0">
                <a:solidFill>
                  <a:srgbClr val="0B1F33"/>
                </a:solidFill>
                <a:latin typeface="Georgia"/>
              </a:rPr>
              <a:t>Questions for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83112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25" b="0" i="0">
                <a:solidFill>
                  <a:srgbClr val="667085"/>
                </a:solidFill>
                <a:latin typeface="Aptos"/>
              </a:rPr>
              <a:t>Argue from the numbers the dashboard shows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83112" cy="493776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50" b="0" i="0">
                <a:solidFill>
                  <a:srgbClr val="FFFFFF"/>
                </a:solidFill>
                <a:latin typeface="Georgia"/>
              </a:rPr>
              <a:t>Six seasons of data, seven agents, one coach. What would convince you the team is skilled rather than lucky?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592824"/>
            <a:ext cx="7315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67085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54864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920240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83664"/>
            <a:ext cx="482803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B1F33"/>
                </a:solidFill>
                <a:latin typeface="Aptos"/>
              </a:rPr>
              <a:t>Did validation predict the season?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22576"/>
            <a:ext cx="5157216" cy="11064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50" b="0" i="0">
                <a:solidFill>
                  <a:srgbClr val="243447"/>
                </a:solidFill>
                <a:latin typeface="Aptos"/>
              </a:rPr>
              <a:t>Look at the hollow and filled dots. If a strategy's validation Sharpe does not predict its season Sharpe, what is the selector actually selecting?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55648"/>
            <a:ext cx="54864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64224" y="1920240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883664"/>
            <a:ext cx="482803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B1F33"/>
                </a:solidFill>
                <a:latin typeface="Aptos"/>
              </a:rPr>
              <a:t>Would you let the coach apply changes automatically?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322576"/>
            <a:ext cx="5157216" cy="11064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50" b="0" i="0">
                <a:solidFill>
                  <a:srgbClr val="243447"/>
                </a:solidFill>
                <a:latin typeface="Aptos"/>
              </a:rPr>
              <a:t>Auto mode closes the loop. Approve mode makes you the risk committee. Which would a real fund choose, and why?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94176"/>
            <a:ext cx="54864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3858768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22191"/>
            <a:ext cx="482803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B1F33"/>
                </a:solidFill>
                <a:latin typeface="Aptos"/>
              </a:rPr>
              <a:t>Where could lookahead still sneak in?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261104"/>
            <a:ext cx="5157216" cy="11064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50" b="0" i="0">
                <a:solidFill>
                  <a:srgbClr val="243447"/>
                </a:solidFill>
                <a:latin typeface="Aptos"/>
              </a:rPr>
              <a:t>The engine lags one bar, the sandbox blocks negative shifts, the perturbation test withholds 60 days. What did we miss?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694176"/>
            <a:ext cx="54864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3858768"/>
            <a:ext cx="292608" cy="292608"/>
          </a:xfrm>
          <a:prstGeom prst="ellipse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822191"/>
            <a:ext cx="482803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B1F33"/>
                </a:solidFill>
                <a:latin typeface="Aptos"/>
              </a:rPr>
              <a:t>Is a 50/50 team blend fair?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4261104"/>
            <a:ext cx="5157216" cy="11064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50" b="0" i="0">
                <a:solidFill>
                  <a:srgbClr val="243447"/>
                </a:solidFill>
                <a:latin typeface="Aptos"/>
              </a:rPr>
              <a:t>The headline number is half quant book, half discretionary desk. Should the headline be whichever did better, or neither?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715000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016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1769AA"/>
                </a:solidFill>
                <a:latin typeface="Aptos"/>
              </a:rPr>
              <a:t>Open the dashboard at any point. Every number on these slides is one click away in Mission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4703</TotalTime>
  <Words>2886</Words>
  <Application>Microsoft Macintosh PowerPoint</Application>
  <PresentationFormat>Widescreen</PresentationFormat>
  <Paragraphs>278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Georgia</vt:lpstr>
      <vt:lpstr>Graphik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Masterclass: Agentic AI Banks and Credit Unions</dc:title>
  <dc:subject/>
  <dc:creator>Johns Hopkins Executive Education</dc:creator>
  <cp:keywords/>
  <dc:description>Evidence current September 22, 2026. Vendor and sponsored evidence labeled.</dc:description>
  <cp:lastModifiedBy>jim</cp:lastModifiedBy>
  <cp:revision>109</cp:revision>
  <dcterms:created xsi:type="dcterms:W3CDTF">2013-01-27T09:14:16Z</dcterms:created>
  <dcterms:modified xsi:type="dcterms:W3CDTF">2026-10-24T01:25:33Z</dcterms:modified>
  <cp:category/>
</cp:coreProperties>
</file>